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Noto Sans Kr" charset="1" panose="020B0200000000000000"/>
      <p:regular r:id="rId11"/>
    </p:embeddedFont>
    <p:embeddedFont>
      <p:font typeface="Arimo" charset="1" panose="020B0604020202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font" Target="fonts/font11.fntdata"/><Relationship Id="rId12" Type="http://schemas.openxmlformats.org/officeDocument/2006/relationships/font" Target="fonts/font12.fntdata"/><Relationship Id="rId13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GHG emissions (MtCO₂e)</c:v>
                </c:pt>
              </c:strCache>
            </c:strRef>
          </c:tx>
          <c:spPr>
            <a:solidFill>
              <a:srgbClr val="4F81BD"/>
            </a:solidFill>
          </c:spPr>
          <c:cat>
            <c:strRef>
              <c:f>Sheet1!$A$2:$A$5</c:f>
              <c:strCache>
                <c:ptCount val="4"/>
                <c:pt idx="0">
                  <c:v>2000</c:v>
                </c:pt>
                <c:pt idx="1">
                  <c:v>2010</c:v>
                </c:pt>
                <c:pt idx="2">
                  <c:v>2020</c:v>
                </c:pt>
                <c:pt idx="3">
                  <c:v>2023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533.5</c:v>
                </c:pt>
                <c:pt idx="1">
                  <c:v>689.8</c:v>
                </c:pt>
                <c:pt idx="2">
                  <c:v>709.5</c:v>
                </c:pt>
                <c:pt idx="3">
                  <c:v>707.2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3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3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0.0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3000" b="0"/>
                  <a:t>MtCO₂e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00.0"/>
      </c:valAx>
    </c:plotArea>
    <c:dispBlanksAs val="gap"/>
  </c:chart>
  <c:txPr>
    <a:bodyPr/>
    <a:lstStyle/>
    <a:p>
      <a:pPr>
        <a:defRPr sz="2800">
          <a:latin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Hello, everyone. Today, I will talk about global warming: its causes, effects, and solutions.</a:t>
            </a:r>
          </a:p>
          <a:p/>
          <a:p>
            <a:r>
              <a:t>[발음]</a:t>
            </a:r>
          </a:p>
          <a:p>
            <a:r>
              <a:t>헬로우 에브리원. 투데이, 아이 윌 토크 어바웃 글로벌 워밍: 잇츠 코지스, 이펙츠, 앤 솔루션스.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chart shows Korea's greenhouse gas emissions. In 2000, emissions were five hundred thirty-three point five million tons of carbon dioxide equivalent. In 2010, six hundred eighty-nine point eight. In 2020, seven hundred nine point five. And in 2023, seven hundred seven point two. Emissions rose sharply after 2000, and they are still high today.</a:t>
            </a:r>
          </a:p>
          <a:p/>
          <a:p>
            <a:r>
              <a:t>[발음]</a:t>
            </a:r>
          </a:p>
          <a:p>
            <a:r>
              <a:t>디스 차트 쇼즈 코리아즈 그린하우스 개스 이미션즈. 인 투 따우전드, 이미션즈 워 파이브 헌드레드 써티쓰리 포인트 파이브 밀리언 턴즈 오브 카본 다이옥사이드 이퀴벌런트. 인 투 따우전드 텐, 식스 헌드레드 에이티나인 포인트 에이트. 인 투 따우전드 트웬티, 세븐 헌드레드 나인 포인트 파이브. 앤 인 투 따우전드 트웬티쓰리, 세븐 헌드레드 세븐 포인트 투. 이미션즈 로즈 샤플리 애프터 투 따우전드, 앤 데이 아 스틸 하이 투데이.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greenhouse gases are increasing, our planet is getting warmer. Glaciers are melting, and we are seeing more floods and droughts.</a:t>
            </a:r>
          </a:p>
          <a:p/>
          <a:p>
            <a:r>
              <a:t>[발음]</a:t>
            </a:r>
          </a:p>
          <a:p>
            <a:r>
              <a:t>비코즈 그린하우스 개시즈 아 인크리싱, 아워 플래닛 이즈 게팅 워머. 글레이셔즈 아 멜팅, 앤 위 아 씽 모어 플러즈 앤 드라우츠.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So, what can we do? We can use public transportation, save electricity and water, and reuse and repair our belongings. What else can you think of?</a:t>
            </a:r>
          </a:p>
          <a:p/>
          <a:p>
            <a:r>
              <a:t>[발음]</a:t>
            </a:r>
          </a:p>
          <a:p>
            <a:r>
              <a:t>쏘, 왓 캔 위 두? 위 캔 유즈 퍼블릭 트랜스포테이션, 세이브 일렉트리시티 앤 워터, 앤 리유즈 앤 리페어 아워 빌롱잉즈. 왓 엘스 캔 유 팅크 오브?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take action today! Small actions, big changes. Thank you.</a:t>
            </a:r>
          </a:p>
          <a:p/>
          <a:p>
            <a:r>
              <a:t>[발음]</a:t>
            </a:r>
          </a:p>
          <a:p>
            <a:r>
              <a:t>렛츠 테이크 액션 투데이! 스몰 액션즈, 빅 체인지즈. 땡큐.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image" Target="../media/image15.png"/><Relationship Id="rId8" Type="http://schemas.openxmlformats.org/officeDocument/2006/relationships/image" Target="../media/image16.svg"/><Relationship Id="rId9" Type="http://schemas.openxmlformats.org/officeDocument/2006/relationships/image" Target="../media/image17.png"/><Relationship Id="rId10" Type="http://schemas.openxmlformats.org/officeDocument/2006/relationships/image" Target="../media/image18.svg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5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44256" y="4964353"/>
            <a:ext cx="1727977" cy="4488253"/>
          </a:xfrm>
          <a:custGeom>
            <a:avLst/>
            <a:gdLst/>
            <a:ahLst/>
            <a:cxnLst/>
            <a:rect r="r" b="b" t="t" l="l"/>
            <a:pathLst>
              <a:path h="4488253" w="1727977">
                <a:moveTo>
                  <a:pt x="0" y="0"/>
                </a:moveTo>
                <a:lnTo>
                  <a:pt x="1727978" y="0"/>
                </a:lnTo>
                <a:lnTo>
                  <a:pt x="1727978" y="4488253"/>
                </a:lnTo>
                <a:lnTo>
                  <a:pt x="0" y="448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93958" y="5689509"/>
            <a:ext cx="2628574" cy="2352574"/>
          </a:xfrm>
          <a:custGeom>
            <a:avLst/>
            <a:gdLst/>
            <a:ahLst/>
            <a:cxnLst/>
            <a:rect r="r" b="b" t="t" l="l"/>
            <a:pathLst>
              <a:path h="2352574" w="2628574">
                <a:moveTo>
                  <a:pt x="0" y="0"/>
                </a:moveTo>
                <a:lnTo>
                  <a:pt x="2628574" y="0"/>
                </a:lnTo>
                <a:lnTo>
                  <a:pt x="2628574" y="2352573"/>
                </a:lnTo>
                <a:lnTo>
                  <a:pt x="0" y="2352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86600" y="568950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722620"/>
            <a:ext cx="16459200" cy="1201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88"/>
              </a:lnSpc>
              <a:spcBef>
                <a:spcPct val="0"/>
              </a:spcBef>
            </a:pPr>
            <a:r>
              <a:rPr lang="en-US" sz="70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GLOBAL WARMING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2373758"/>
            <a:ext cx="16459200" cy="1201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sz="54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Causes, Effects, and Solutions</a:t>
            </a:r>
          </a:p>
        </p:txBody>
      </p:sp>
    </p:spTree>
  </p:cSld>
  <p:clrMapOvr>
    <a:masterClrMapping/>
  </p:clrMapOvr>
  <p:transition spd="med" advClick="1" advTm="10388">
    <p:fade/>
  </p:transition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9916"/>
            <a:ext cx="16459200" cy="2343634"/>
            <a:chOff x="0" y="0"/>
            <a:chExt cx="11704320" cy="22221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2222112"/>
            </a:xfrm>
            <a:custGeom>
              <a:avLst/>
              <a:gdLst/>
              <a:ahLst/>
              <a:cxnLst/>
              <a:rect r="r" b="b" t="t" l="l"/>
              <a:pathLst>
                <a:path h="222211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2222112"/>
                  </a:lnTo>
                  <a:lnTo>
                    <a:pt x="0" y="2222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053" r="0" b="-3920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704320" cy="2260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Korea’s Greenhouse Gas Emissions</a:t>
              </a:r>
              <a:r>
                <a:rPr lang="en-US" sz="6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/>
              </a:r>
            </a:p>
          </p:txBody>
        </p:sp>
      </p:grpSp>
      <p:graphicFrame>
        <p:nvGraphicFramePr>
          <p:cNvPr id="5" name="Emissions Chart"/>
          <p:cNvGraphicFramePr>
            <a:graphicFrameLocks noGrp="1"/>
          </p:cNvGraphicFramePr>
          <p:nvPr/>
        </p:nvGraphicFramePr>
        <p:xfrm>
          <a:off x="1463040" y="2743200"/>
          <a:ext cx="15361920" cy="6400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" name="Source Note"/>
          <p:cNvSpPr txBox="1"/>
          <p:nvPr/>
        </p:nvSpPr>
        <p:spPr>
          <a:xfrm>
            <a:off x="1463040" y="9281160"/>
            <a:ext cx="1536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595959"/>
                </a:solidFill>
                <a:latin typeface="Noto Sans Kr"/>
              </a:rPr>
              <a:t>Source: ICAP, Korea Emissions Trading System factsheet (Korea’s national GHG inventory). Basis: total GHG emissions excluding LULUCF, in MtCO₂e.</a:t>
            </a:r>
          </a:p>
        </p:txBody>
      </p:sp>
    </p:spTree>
  </p:cSld>
  <p:clrMapOvr>
    <a:masterClrMapping/>
  </p:clrMapOvr>
  <p:transition spd="med" advClick="1" advTm="35302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6796" y="4573679"/>
            <a:ext cx="2937014" cy="3012322"/>
          </a:xfrm>
          <a:custGeom>
            <a:avLst/>
            <a:gdLst/>
            <a:ahLst/>
            <a:cxnLst/>
            <a:rect r="r" b="b" t="t" l="l"/>
            <a:pathLst>
              <a:path h="3012322" w="2937014">
                <a:moveTo>
                  <a:pt x="0" y="0"/>
                </a:moveTo>
                <a:lnTo>
                  <a:pt x="2937014" y="0"/>
                </a:lnTo>
                <a:lnTo>
                  <a:pt x="2937014" y="3012322"/>
                </a:lnTo>
                <a:lnTo>
                  <a:pt x="0" y="3012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56627" y="4259564"/>
            <a:ext cx="3774746" cy="2925428"/>
          </a:xfrm>
          <a:custGeom>
            <a:avLst/>
            <a:gdLst/>
            <a:ahLst/>
            <a:cxnLst/>
            <a:rect r="r" b="b" t="t" l="l"/>
            <a:pathLst>
              <a:path h="2925428" w="3774746">
                <a:moveTo>
                  <a:pt x="0" y="0"/>
                </a:moveTo>
                <a:lnTo>
                  <a:pt x="3774746" y="0"/>
                </a:lnTo>
                <a:lnTo>
                  <a:pt x="3774746" y="2925428"/>
                </a:lnTo>
                <a:lnTo>
                  <a:pt x="0" y="2925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20088" y="5049925"/>
            <a:ext cx="2870642" cy="2870642"/>
          </a:xfrm>
          <a:custGeom>
            <a:avLst/>
            <a:gdLst/>
            <a:ahLst/>
            <a:cxnLst/>
            <a:rect r="r" b="b" t="t" l="l"/>
            <a:pathLst>
              <a:path h="2870642" w="2870642">
                <a:moveTo>
                  <a:pt x="0" y="0"/>
                </a:moveTo>
                <a:lnTo>
                  <a:pt x="2870641" y="0"/>
                </a:lnTo>
                <a:lnTo>
                  <a:pt x="2870641" y="2870642"/>
                </a:lnTo>
                <a:lnTo>
                  <a:pt x="0" y="2870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2185" y="721850"/>
            <a:ext cx="17730388" cy="211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8"/>
              </a:lnSpc>
              <a:spcBef>
                <a:spcPct val="0"/>
              </a:spcBef>
            </a:pPr>
            <a:r>
              <a:rPr lang="en-US" sz="60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Effects of Global Warming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2379" y="7806267"/>
            <a:ext cx="5885847" cy="10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8"/>
              </a:lnSpc>
              <a:spcBef>
                <a:spcPct val="0"/>
              </a:spcBef>
            </a:pPr>
            <a:r>
              <a:rPr lang="en-US" sz="60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Glacial</a:t>
            </a:r>
            <a:r>
              <a:rPr lang="en-US" sz="60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Melting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56627" y="7573149"/>
            <a:ext cx="3833480" cy="10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8"/>
              </a:lnSpc>
              <a:spcBef>
                <a:spcPct val="0"/>
              </a:spcBef>
            </a:pPr>
            <a:r>
              <a:rPr lang="en-US" sz="60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flood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20088" y="8728583"/>
            <a:ext cx="3833480" cy="103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8"/>
              </a:lnSpc>
              <a:spcBef>
                <a:spcPct val="0"/>
              </a:spcBef>
            </a:pPr>
            <a:r>
              <a:rPr lang="en-US" sz="60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drought</a:t>
            </a:r>
          </a:p>
        </p:txBody>
      </p:sp>
    </p:spTree>
  </p:cSld>
  <p:clrMapOvr>
    <a:masterClrMapping/>
  </p:clrMapOvr>
  <p:transition spd="med" advClick="1" advTm="13308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4378" y="4665604"/>
            <a:ext cx="2291122" cy="955792"/>
          </a:xfrm>
          <a:custGeom>
            <a:avLst/>
            <a:gdLst/>
            <a:ahLst/>
            <a:cxnLst/>
            <a:rect r="r" b="b" t="t" l="l"/>
            <a:pathLst>
              <a:path h="955792" w="2291122">
                <a:moveTo>
                  <a:pt x="0" y="0"/>
                </a:moveTo>
                <a:lnTo>
                  <a:pt x="2291121" y="0"/>
                </a:lnTo>
                <a:lnTo>
                  <a:pt x="2291121" y="955792"/>
                </a:lnTo>
                <a:lnTo>
                  <a:pt x="0" y="955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37" r="0" b="-15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84150" y="4478815"/>
            <a:ext cx="957147" cy="1329370"/>
          </a:xfrm>
          <a:custGeom>
            <a:avLst/>
            <a:gdLst/>
            <a:ahLst/>
            <a:cxnLst/>
            <a:rect r="r" b="b" t="t" l="l"/>
            <a:pathLst>
              <a:path h="1329370" w="957147">
                <a:moveTo>
                  <a:pt x="0" y="0"/>
                </a:moveTo>
                <a:lnTo>
                  <a:pt x="957147" y="0"/>
                </a:lnTo>
                <a:lnTo>
                  <a:pt x="957147" y="1329370"/>
                </a:lnTo>
                <a:lnTo>
                  <a:pt x="0" y="13293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35169" y="4415470"/>
            <a:ext cx="598867" cy="1392715"/>
          </a:xfrm>
          <a:custGeom>
            <a:avLst/>
            <a:gdLst/>
            <a:ahLst/>
            <a:cxnLst/>
            <a:rect r="r" b="b" t="t" l="l"/>
            <a:pathLst>
              <a:path h="1392715" w="598867">
                <a:moveTo>
                  <a:pt x="0" y="0"/>
                </a:moveTo>
                <a:lnTo>
                  <a:pt x="598867" y="0"/>
                </a:lnTo>
                <a:lnTo>
                  <a:pt x="598867" y="1392715"/>
                </a:lnTo>
                <a:lnTo>
                  <a:pt x="0" y="13927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628415" y="3355909"/>
            <a:ext cx="2563035" cy="2119122"/>
            <a:chOff x="0" y="0"/>
            <a:chExt cx="3417380" cy="28254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30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783080">
                  <a:moveTo>
                    <a:pt x="0" y="0"/>
                  </a:moveTo>
                  <a:lnTo>
                    <a:pt x="1783080" y="0"/>
                  </a:lnTo>
                  <a:lnTo>
                    <a:pt x="1783080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11375" y="719491"/>
              <a:ext cx="2106005" cy="2106005"/>
            </a:xfrm>
            <a:custGeom>
              <a:avLst/>
              <a:gdLst/>
              <a:ahLst/>
              <a:cxnLst/>
              <a:rect r="r" b="b" t="t" l="l"/>
              <a:pathLst>
                <a:path h="2106005" w="2106005">
                  <a:moveTo>
                    <a:pt x="0" y="0"/>
                  </a:moveTo>
                  <a:lnTo>
                    <a:pt x="2106005" y="0"/>
                  </a:lnTo>
                  <a:lnTo>
                    <a:pt x="2106005" y="2106005"/>
                  </a:lnTo>
                  <a:lnTo>
                    <a:pt x="0" y="2106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608785" y="193867"/>
            <a:ext cx="10665023" cy="1201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88"/>
              </a:lnSpc>
              <a:spcBef>
                <a:spcPct val="0"/>
              </a:spcBef>
            </a:pPr>
            <a:r>
              <a:rPr lang="en-US" sz="70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What Can We Do?</a:t>
            </a:r>
            <a:r>
              <a:rPr lang="en-US" sz="70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08785" y="8432850"/>
            <a:ext cx="11070429" cy="1201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88"/>
              </a:lnSpc>
              <a:spcBef>
                <a:spcPct val="0"/>
              </a:spcBef>
            </a:pPr>
            <a:r>
              <a:rPr lang="en-US" sz="70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What else could</a:t>
            </a:r>
            <a:r>
              <a:rPr lang="en-US" sz="70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there be?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97276" y="6195097"/>
            <a:ext cx="4405325" cy="170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4"/>
              </a:lnSpc>
              <a:spcBef>
                <a:spcPct val="0"/>
              </a:spcBef>
            </a:pPr>
            <a:r>
              <a:rPr lang="en-US" sz="4874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Using</a:t>
            </a:r>
            <a:r>
              <a:rPr lang="en-US" sz="4874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Public Transportation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69648" y="6058285"/>
            <a:ext cx="2748703" cy="199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6"/>
              </a:lnSpc>
              <a:spcBef>
                <a:spcPct val="0"/>
              </a:spcBef>
            </a:pPr>
            <a:r>
              <a:rPr lang="en-US" sz="378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Conserving</a:t>
            </a:r>
            <a:r>
              <a:rPr lang="en-US" sz="378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electricity and water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81967" y="5526146"/>
            <a:ext cx="4377333" cy="265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8"/>
              </a:lnSpc>
              <a:spcBef>
                <a:spcPct val="0"/>
              </a:spcBef>
            </a:pPr>
            <a:r>
              <a:rPr lang="en-US" sz="50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Reuse and</a:t>
            </a:r>
            <a:r>
              <a:rPr lang="en-US" sz="50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Repair Items</a:t>
            </a:r>
          </a:p>
        </p:txBody>
      </p:sp>
    </p:spTree>
  </p:cSld>
  <p:clrMapOvr>
    <a:masterClrMapping/>
  </p:clrMapOvr>
  <p:transition spd="med" advClick="1" advTm="17614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21416" y="3629886"/>
            <a:ext cx="4845167" cy="5324360"/>
          </a:xfrm>
          <a:custGeom>
            <a:avLst/>
            <a:gdLst/>
            <a:ahLst/>
            <a:cxnLst/>
            <a:rect r="r" b="b" t="t" l="l"/>
            <a:pathLst>
              <a:path h="5324360" w="4845167">
                <a:moveTo>
                  <a:pt x="0" y="0"/>
                </a:moveTo>
                <a:lnTo>
                  <a:pt x="4845168" y="0"/>
                </a:lnTo>
                <a:lnTo>
                  <a:pt x="4845168" y="5324360"/>
                </a:lnTo>
                <a:lnTo>
                  <a:pt x="0" y="5324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355419"/>
            <a:ext cx="18288000" cy="2352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8"/>
              </a:lnSpc>
              <a:spcBef>
                <a:spcPct val="0"/>
              </a:spcBef>
            </a:pPr>
            <a:r>
              <a:rPr lang="en-US" sz="67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Let’s Take Action Today!</a:t>
            </a:r>
          </a:p>
          <a:p>
            <a:pPr algn="ctr">
              <a:lnSpc>
                <a:spcPts val="9468"/>
              </a:lnSpc>
              <a:spcBef>
                <a:spcPct val="0"/>
              </a:spcBef>
            </a:pPr>
            <a:r>
              <a:rPr lang="en-US" sz="67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Small Actions, Big Changes.</a:t>
            </a:r>
          </a:p>
        </p:txBody>
      </p:sp>
    </p:spTree>
  </p:cSld>
  <p:clrMapOvr>
    <a:masterClrMapping/>
  </p:clrMapOvr>
  <p:transition spd="med" advClick="1" advTm="9444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DAHY-YrWt28</dc:identifier>
  <dcterms:modified xsi:type="dcterms:W3CDTF">2011-08-01T06:04:30Z</dcterms:modified>
  <cp:revision>1</cp:revision>
  <dc:title>지구 온난화 대처방안</dc:title>
</cp:coreProperties>
</file>